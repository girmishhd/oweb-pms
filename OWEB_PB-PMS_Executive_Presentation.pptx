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0B8C4"/>
                </a:solidFill>
              </a:defRPr>
            </a:pPr>
            <a:r>
              <a:t>NATIONAL REGIONAL STATE OF OROMIA • WATER &amp; ENERGY BUREAU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Program-Based Project Management System</a:t>
            </a:r>
            <a:br/>
            <a:r>
              <a:t>(OWEB PB-PMS)</a:t>
            </a:r>
          </a:p>
          <a:p>
            <a:pPr>
              <a:spcAft>
                <a:spcPts val="2600"/>
              </a:spcAft>
              <a:defRPr sz="1600">
                <a:solidFill>
                  <a:srgbClr val="DCF0FC"/>
                </a:solidFill>
              </a:defRPr>
            </a:pPr>
            <a:r>
              <a:t>Executive Briefing for Top Management: Strategic Value, Enterprise Architecture &amp; Production Readiness</a:t>
            </a:r>
          </a:p>
          <a:p>
            <a:pPr>
              <a:defRPr sz="1100">
                <a:solidFill>
                  <a:srgbClr val="607585"/>
                </a:solidFill>
              </a:defRPr>
            </a:pPr>
            <a:r>
              <a:t>Presented by: Solution Architecture, QA &amp; Digital Transformation Taskforce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Executive Summary: Transforming Water Sector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The Regional Imperative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Oromia encompasses 6 massive administrative clusters, over 270 woredas, and thousands of water schemes.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Managing multiple bilateral and multilateral funding portfolios requires unified digital oversight.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Prior manual processes created communication lags, uncoordinated tenders, and delayed audit trails.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PB-PMS establishes a sovereign, centralized capital infrastructure ledger for the entire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The Digital Transformation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Unified full-lifecycle execution from woreda planning to procurement, contracts, QA/QC, and handover.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Complete removal of fake data, mock models, and disconnected desktop spreadsheets.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Live connection to PostgreSQL backed by a verified 274 administrative hierarchy unit registry.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Role-Based Access Control (RBAC) ensuring strict query-level organizational data isolation.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Core Management Outcomes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100% auditable milestone disbursements with 30-day performance bond expiry alerting.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Real-time technical tracking of WHO and CES 58 drinking water quality testing and site safety.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Direct integration of 7 multilateral WASH programs (World Bank, AfDB, Finland, UNICEF).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Evidence-based capital budgeting and automated executive reporting for top decision-makers.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Problem-to-Solution Matrix: Strategic Bottlenecks Resolved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3413455"/>
              </a:tblGrid>
              <a:tr h="792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Historical Bottlenecks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PB-PMS Enterprise Solution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Executive &amp; Regional Value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Fragmented Scheme Records across Woredas &amp; 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Centralized digital master registry with 274 validated administrative hierarchy units (Regions -&gt; Clusters -&gt; Woredas -&gt; Kebeles).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Single source of truth; eliminates duplicate scheme submissions.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Procurement Delays &amp; Compliance Risks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Automated tender builder with statutory committee member enforcement, CPO tracking, and standstill compliance periods.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Reduces tender disputes, enforces procurement transparency, and accelerates contractor selection.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Contract Overruns &amp; Inadequate Milestone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Rigorous contract administration engine tracking performance bond expiries, advance guarantees, and physical vs. financial S-curves.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Protects bureau capital; provides proactive 30-day alerts before securities expire.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Uncoordinated Field Inspections &amp; Quality Gaps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Digital QA/QC inspection logging with mandatory WHO / CES 58 water quality test parameters, site safety ratings, and punch list tracking.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Guarantees safe drinking water standards before contractor invoices are cleared.</a:t>
                      </a:r>
                    </a:p>
                  </a:txBody>
                  <a:tcPr>
                    <a:solidFill>
                      <a:srgbClr val="F0F8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Multilateral Partner Reporting Disconnections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Dedicated Development Partner &amp; WASH Programs portal with verified portfolios (OWNP-CWA, AfDB, COWASH, UNICEF, DRDIP).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72B3A"/>
                          </a:solidFill>
                        </a:defRPr>
                      </a:pPr>
                      <a:r>
                        <a:t>Streamlines bilateral audits, donor compliance reporting, and future capital mobilization.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End-to-End Scheme Lifecycle: From Inception to Handover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38328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1. Planning &amp; Budget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Woreda &amp; Zone project initiation, GPS spatial mapping, initial budget estimation, and program alignment (OWNP, COWASH, etc.).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2. Technical Review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Bureau Directorate review, hydraulic feasibility validation, environmental impact assessment, and formal approval transition.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38328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3. Tendering &amp; Award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Statutory bid committee formation, CPO bid security validation, financial appraisal, standstill period, and contractor selection.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338328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4. Contract Execution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Performance bond verification, site possession handover, milestone advance guarantees, and contractual commencement.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840480"/>
            <a:ext cx="338328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5. Site QA/QC Auditing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Resident engineer field inspection logs, WHO drinking water laboratory testing, punch list tracking, and progress sign-offs.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840480"/>
            <a:ext cx="338328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0233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6. Commissioning &amp; Audit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Final physical completion audit, final milestone disbursement, independent financial review, and public transparency portal publication.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Verified Program Portfolios &amp; Bilateral Development Partners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Verified Active WASH Programs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OWNP-CWA (One WASH National Program): Consolidated Pooled Fund for universal rural and urban WASH access across Oromia.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COWASH IV: Community-Led Accelerated WASH with bilateral financing from the Government of Finland.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Oromia Drought Resilience (DRDIP): Deep well drilling and climate-resilient water networks across pastoral zones (Borena, Guji).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Climate-Resilient Urban Water Supply (CR-WASH): Multi-village pipeline distribution systems in water-stressed urban corridors.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AfDB Multi-Village Infrastructure: Large-scale surface water treatment and bulk transmission schemes.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Emergency Water Infrastructure: Rapid borehole rehabilitation, generator telemetry, and emergency relief.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Multilateral Development Partners &amp; Appraisal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The World Bank Group (IDA): Primary credit facility for sustainable water expansion and capacity building.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African Development Bank (AfDB): Strategic financing for multi-village schemes and drought resilience programs.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Ministry for Foreign Affairs of Finland (MFA): Technical cooperation and grant financing under COWASH.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UNICEF Ethiopia: Humanitarian emergency response, schools and healthcare facility WASH infrastructure.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JICA: Ground water research, hydrogeological mapping, and capacity development.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Centralized Document Vault: Direct executive access to Project Appraisal Documents (PAD), environmental audits, and grant agreements.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Enterprise Technical Architecture &amp; Defense-in-Depth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329184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Modern Frontend Client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React 19 &amp; Vite 6: Lightning-fast reactive interface with modular chunking.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Tailwind CSS &amp; Metis Architecture: Responsive water-themed government UI.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Zero Mock Data: Client components strictly consume authenticated REST endpoints.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Mobile &amp; Desktop Responsive: Optimized for field engineers on tablets and head-office workstations.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291840" cy="73152"/>
          </a:xfrm>
          <a:prstGeom prst="rect">
            <a:avLst/>
          </a:prstGeom>
          <a:solidFill>
            <a:srgbClr val="20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Django REST Backend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Django 5.x REST Framework: Robust, enterprise-grade business logic and transaction integrity.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PostgreSQL 16 Engine: ACID-compliant relational schema with 274 official org units.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SimpleJWT Authentication: Token rotation, secure expiration, and PBKDF2/SHA-256 password hashing.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Zero Warnings: Complete DRF Spectacular OpenAPI schema compatibility.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3291840" cy="73152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2834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Cybersecurity Hardening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Brute-Force Rate Limiting: ScopedRateThrottle limits login attempts to 10/min per IP.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Privilege Escalation Defense: Serializers strictly prevent non-admins from assigning privileged roles.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Security Headers: Enforced SECURE_REFERRER_POLICY, NOSNIFF, and X_FRAME_OPTIONS = 'DENY'.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Audit Logging: Comprehensive ActivityLog entity tracking state mutations across all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Rigorous Quality Assurance: 100% Test &amp; Build Pass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2103120"/>
          </a:xfrm>
          <a:prstGeom prst="roundRect">
            <a:avLst/>
          </a:prstGeom>
          <a:solidFill>
            <a:srgbClr val="F0F8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926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E9F6E"/>
                </a:solidFill>
              </a:defRPr>
            </a:pPr>
            <a:r>
              <a:t>31 / 31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Automated Django Tests Passed</a:t>
            </a:r>
            <a:br/>
            <a:r>
              <a:t>100% test suite success across all DRF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2103120"/>
          </a:xfrm>
          <a:prstGeom prst="roundRect">
            <a:avLst/>
          </a:prstGeom>
          <a:solidFill>
            <a:srgbClr val="F0F8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2926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87EAD"/>
                </a:solidFill>
              </a:defRPr>
            </a:pPr>
            <a:r>
              <a:t>0 Errors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Vite 6 Production Build</a:t>
            </a:r>
            <a:br/>
            <a:r>
              <a:t>Production dist/ bundle compiled in 12.78s.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2103120"/>
          </a:xfrm>
          <a:prstGeom prst="roundRect">
            <a:avLst/>
          </a:prstGeom>
          <a:solidFill>
            <a:srgbClr val="F0F8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2926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0B8C4"/>
                </a:solidFill>
              </a:defRPr>
            </a:pPr>
            <a:r>
              <a:t>0 System Issues</a:t>
            </a:r>
          </a:p>
          <a:p>
            <a:pPr>
              <a:defRPr sz="1100">
                <a:solidFill>
                  <a:srgbClr val="172B3A"/>
                </a:solidFill>
              </a:defRPr>
            </a:pPr>
            <a:r>
              <a:t>Django Deployment Check</a:t>
            </a:r>
            <a:br/>
            <a:r>
              <a:t>0 silenced issues, 0 schema introspection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728655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1027145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Production Verification &amp; Zero-Mock Guarantee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Zero Mock Data: All demo persona selectors, hardcoded fake bidders, and fictitious statistics were completely eradicated.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Clean Database Reset: PostgreSQL contains zero mock transactions while preserving all 274 official administrative units.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Graceful Empty States: Every module renders clean, professional empty states when zero transactions exist in the database.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Regression Tested: Validated that creating real transactions populates dashboards, charts, and audit feeds in real-time.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087EAD"/>
          </a:solidFill>
          <a:ln>
            <a:solidFill>
              <a:srgbClr val="087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87EAD"/>
                </a:solidFill>
              </a:defRPr>
            </a:pPr>
            <a:r>
              <a:t>OROMIA WATER AND ENERGY BUREAU • PB-PMS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3D5C"/>
                </a:solidFill>
              </a:defRPr>
            </a:pPr>
            <a:r>
              <a:t>Implementation Roadmap &amp; Required Executive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73152"/>
          </a:xfrm>
          <a:prstGeom prst="rect">
            <a:avLst/>
          </a:prstGeom>
          <a:solidFill>
            <a:srgbClr val="087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Phased Regional Rollout Plan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Phase 1: Pilot Launch in Central &amp; Eastern Clusters (Weeks 1-4).</a:t>
            </a:r>
            <a:br/>
            <a:r>
              <a:t>Onboarding woreda project engineers and zonal coordinators.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Phase 2: Full Bureau Deployment across all 6 Clusters (Weeks 5-8).</a:t>
            </a:r>
            <a:br/>
            <a:r>
              <a:t>Active data capture for all ongoing OWNP, COWASH, and AfDB tenders.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Phase 3: Development Partner &amp; Public Portal Integration (Weeks 9-12).</a:t>
            </a:r>
            <a:br/>
            <a:r>
              <a:t>Enabling authorized partner appraisal access and transparency portal.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Phase 4: Telemetry &amp; SCADA Mobile Expansion (Weeks 13-16).</a:t>
            </a:r>
            <a:br/>
            <a:r>
              <a:t>Integrating real-time water flow telemetry and GPS mobile auditing.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3D5C"/>
                </a:solidFill>
              </a:defRPr>
            </a:pPr>
            <a:r>
              <a:t>Decisions &amp; Support Required from Top Management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1. Formal Approval of Production Deployment: Approve transition of PB-PMS as the official bureau capital project ledger.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2. Bureau Policy Directive on Digital Submission: Mandate that all capital project disbursements require PB-PMS milestone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3. Cluster ICT Focal Person Assignment: Authorize the 6 Cluster IT focal desks for local credential management and support.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4. Partner Coordination Protocol: Formally notify World Bank, AfDB, and UNICEF teams regarding the Development Partner Portal.</a:t>
            </a:r>
          </a:p>
          <a:p>
            <a:pPr>
              <a:spcAft>
                <a:spcPts val="600"/>
              </a:spcAft>
              <a:defRPr sz="1100">
                <a:solidFill>
                  <a:srgbClr val="172B3A"/>
                </a:solidFill>
              </a:defRPr>
            </a:pPr>
            <a:r>
              <a:t>• 5. Infrastructure Hosting Resource Allocation: Confirm production server scaling, automated PostgreSQL backups, and domain binding.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0B8C4"/>
                </a:solidFill>
              </a:defRPr>
            </a:pPr>
            <a:r>
              <a:t>OROMIA WATER AND ENERGY BUREAU</a:t>
            </a:r>
          </a:p>
          <a:p>
            <a:pPr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“Sustainable Water Services for Every Community.”</a:t>
            </a:r>
          </a:p>
          <a:p>
            <a:pPr>
              <a:spcAft>
                <a:spcPts val="2800"/>
              </a:spcAft>
              <a:defRPr sz="1600">
                <a:solidFill>
                  <a:srgbClr val="DCF0FC"/>
                </a:solidFill>
              </a:defRPr>
            </a:pPr>
            <a:r>
              <a:t>The Program-Based Project Management System (PB-PMS) is verified, hardened, and ready for deployment.</a:t>
            </a:r>
            <a:br/>
            <a:br/>
            <a:r>
              <a:t>With top management's approval, OWEB will establish an unprecedented benchmark for transparency, engineering excellence, and public sector accountability across Ethiopia.</a:t>
            </a:r>
          </a:p>
          <a:p>
            <a:pPr>
              <a:defRPr sz="1400" b="1">
                <a:solidFill>
                  <a:srgbClr val="D97706"/>
                </a:solidFill>
              </a:defRPr>
            </a:pPr>
            <a:r>
              <a:t>Thank you. Open for Discussion, Leadership Guidance &amp; Formal Endorsement.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